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6"/>
  </p:notesMasterIdLst>
  <p:handoutMasterIdLst>
    <p:handoutMasterId r:id="rId17"/>
  </p:handoutMasterIdLst>
  <p:sldIdLst>
    <p:sldId id="315" r:id="rId5"/>
    <p:sldId id="266" r:id="rId6"/>
    <p:sldId id="271" r:id="rId7"/>
    <p:sldId id="305" r:id="rId8"/>
    <p:sldId id="310" r:id="rId9"/>
    <p:sldId id="317" r:id="rId10"/>
    <p:sldId id="313" r:id="rId11"/>
    <p:sldId id="318" r:id="rId12"/>
    <p:sldId id="319" r:id="rId13"/>
    <p:sldId id="320" r:id="rId14"/>
    <p:sldId id="32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A9EB3-C52D-9527-5662-3CCEEEE05B11}" v="937" dt="2025-11-25T15:02:53.185"/>
    <p1510:client id="{914D43DC-6C52-5026-EC57-57100CE0E278}" v="5" dt="2025-11-27T03:18:01.026"/>
  </p1510:revLst>
</p1510:revInfo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63" y="9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327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603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B203B-9E5E-78C1-06B7-E4DA367E1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76095-ABFD-6A84-D65C-CA9825A47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41672-9941-59BB-C2B7-77E767B46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0A333-E688-F1E4-885C-E2EE53BB1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277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912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1389-DD45-DFAC-4554-1ECDF7DA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4F9E1-34FF-13B4-2E9E-EE9FA1C68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7BD2D-C007-A1AA-B25D-93B4CA8B5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54A15-ECAF-3858-ED9D-66FAEE241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631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2BB19-D8AF-6B52-CFD0-0117B11B2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1D84D-5816-C151-D199-0EB627280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E3B8B-654B-00C2-8285-FBD223DDB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EC93-645D-19F1-4616-0A1E0579C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105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A29B5-7104-57D7-88CC-1FBEF87D1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19717-CAD0-6B76-47C3-D152CB793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C5284-B096-0867-CA62-D4283ABAE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4006C-F17A-DFA6-FA98-6F10AA0E1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609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21FC8-B36A-2728-9CB4-74F9D7CE9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B5F2E-F168-DE95-F822-430DD409A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27E8E-E205-10C0-918F-0263448E0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40488-A213-2F12-A65D-DCD812924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52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7215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4602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897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8559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056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4C61DF6-3A2D-55DA-8448-C2D07707E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B340BB-A35D-C47D-F28F-6FBE043F6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CDAB0E-1B08-9A3E-38B2-E60401CC0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4A4B38-C41B-0C14-CB28-67E972112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FD99EC-B9CC-A1AC-EFF4-B65977F54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9280CA-3626-981C-CF19-E559E0DA8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5C9117-F419-BD57-1080-86A4D1360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54386-29C8-95E0-C9D9-78F27AD2E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68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92206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333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4580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4780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242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673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760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305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00000"/>
              </a:lnSpc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Aft>
                <a:spcPts val="600"/>
              </a:spcAft>
              <a:defRPr sz="1800"/>
            </a:lvl4pPr>
            <a:lvl5pPr>
              <a:lnSpc>
                <a:spcPct val="100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88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72130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7929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378576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16188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8518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511" y="1393926"/>
            <a:ext cx="7042570" cy="162622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F27B53-079D-232F-8AA5-ED461B34E8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6741" y="3153103"/>
            <a:ext cx="7042335" cy="2648312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41913" y="6144405"/>
            <a:ext cx="8150087" cy="71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6412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F4FDF97-2780-775F-9416-96F7A906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2" y="6309360"/>
            <a:ext cx="4280135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A03787D1-4AB7-2166-D4DB-A3878CB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511" y="6309360"/>
            <a:ext cx="1513289" cy="45720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F8C5CD2-BF99-0846-2E4A-179E6C4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198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sz="1800"/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sz="1800"/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sz="1800"/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075238" y="461735"/>
            <a:ext cx="6473842" cy="386715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2941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Date Placeholder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2" name="Slide Number Placeholder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869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630363" y="2757951"/>
            <a:ext cx="9918700" cy="3387579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1590046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9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1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682" r:id="rId24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EC61993C-5E15-0431-2706-D95DCDB49FB6}"/>
              </a:ext>
            </a:extLst>
          </p:cNvPr>
          <p:cNvSpPr txBox="1">
            <a:spLocks/>
          </p:cNvSpPr>
          <p:nvPr/>
        </p:nvSpPr>
        <p:spPr>
          <a:xfrm>
            <a:off x="1146628" y="1447201"/>
            <a:ext cx="8016189" cy="340781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rgbClr val="EBEDEB"/>
                </a:solidFill>
                <a:ea typeface="Meiryo"/>
              </a:rPr>
              <a:t>Vertex Cover Analysis:</a:t>
            </a:r>
          </a:p>
          <a:p>
            <a:r>
              <a:rPr lang="en-US" sz="3200" dirty="0">
                <a:solidFill>
                  <a:srgbClr val="EBEDEB"/>
                </a:solidFill>
                <a:ea typeface="Meiryo"/>
              </a:rPr>
              <a:t>Brute Force vs. Greedy vs. 2-Approximation</a:t>
            </a:r>
          </a:p>
          <a:p>
            <a:endParaRPr lang="en-US" sz="3000" dirty="0">
              <a:solidFill>
                <a:srgbClr val="EBEDEB"/>
              </a:solidFill>
              <a:ea typeface="Meiryo"/>
            </a:endParaRPr>
          </a:p>
          <a:p>
            <a:endParaRPr lang="en-US" sz="3000" dirty="0">
              <a:solidFill>
                <a:srgbClr val="EBEDEB"/>
              </a:solidFill>
              <a:ea typeface="Meiryo"/>
            </a:endParaRPr>
          </a:p>
          <a:p>
            <a:endParaRPr lang="en-US" dirty="0">
              <a:ea typeface="Meiry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DEE7D-B633-EB04-6759-860A069E14E5}"/>
              </a:ext>
            </a:extLst>
          </p:cNvPr>
          <p:cNvSpPr txBox="1"/>
          <p:nvPr/>
        </p:nvSpPr>
        <p:spPr>
          <a:xfrm>
            <a:off x="1143000" y="5181600"/>
            <a:ext cx="7892142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 b="1" baseline="0" dirty="0">
                <a:solidFill>
                  <a:srgbClr val="EBEDEB"/>
                </a:solidFill>
                <a:latin typeface="Meiryo"/>
                <a:ea typeface="Segoe UI"/>
                <a:cs typeface="Segoe UI"/>
              </a:rPr>
              <a:t>Kailyn Culpepper, Mitchell Korody, </a:t>
            </a:r>
            <a:r>
              <a:rPr lang="en-US" sz="2100" b="1">
                <a:solidFill>
                  <a:srgbClr val="EBEDEB"/>
                </a:solidFill>
                <a:latin typeface="Meiryo"/>
                <a:ea typeface="Segoe UI"/>
                <a:cs typeface="Segoe UI"/>
              </a:rPr>
              <a:t>Anthony Pfaff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Vertex Cover | Brilliant Math &amp; Science Wiki">
            <a:extLst>
              <a:ext uri="{FF2B5EF4-FFF2-40B4-BE49-F238E27FC236}">
                <a16:creationId xmlns:a16="http://schemas.microsoft.com/office/drawing/2014/main" id="{6F6DDD79-32D0-E6C7-F7A4-E438CA214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5" y="2244357"/>
            <a:ext cx="3328786" cy="24275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1056362"/>
            <a:ext cx="6627226" cy="1154102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>
                <a:solidFill>
                  <a:schemeClr val="bg2"/>
                </a:solidFill>
              </a:rPr>
              <a:t>What is Vertex Cover?</a:t>
            </a:r>
            <a:endParaRPr lang="en-US" sz="3600">
              <a:solidFill>
                <a:schemeClr val="bg2"/>
              </a:solidFill>
              <a:ea typeface="Meiryo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21857" y="2268656"/>
            <a:ext cx="6627226" cy="3505938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bg2"/>
                </a:solidFill>
              </a:rPr>
              <a:t>A set of vertices including at least one endpoint of every edge</a:t>
            </a:r>
            <a:endParaRPr lang="en-US" dirty="0">
              <a:solidFill>
                <a:schemeClr val="bg2"/>
              </a:solidFill>
              <a:ea typeface="Meiryo"/>
            </a:endParaRPr>
          </a:p>
          <a:p>
            <a:pPr>
              <a:lnSpc>
                <a:spcPct val="140000"/>
              </a:lnSpc>
            </a:pPr>
            <a:r>
              <a:rPr lang="en-US">
                <a:solidFill>
                  <a:schemeClr val="bg2"/>
                </a:solidFill>
              </a:rPr>
              <a:t>Minimum Vertex Cover = smallest possible set</a:t>
            </a:r>
            <a:endParaRPr lang="en-US">
              <a:solidFill>
                <a:schemeClr val="bg2"/>
              </a:solidFill>
              <a:ea typeface="Meiryo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445" y="-2896036"/>
            <a:ext cx="6002382" cy="3860509"/>
          </a:xfrm>
        </p:spPr>
        <p:txBody>
          <a:bodyPr/>
          <a:lstStyle/>
          <a:p>
            <a:r>
              <a:rPr lang="en-US" dirty="0"/>
              <a:t>Algorithms Analyzed</a:t>
            </a:r>
            <a:endParaRPr lang="en-US" dirty="0">
              <a:ea typeface="Meiryo"/>
            </a:endParaRP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5142" y="3074652"/>
            <a:ext cx="5125300" cy="1068929"/>
          </a:xfrm>
        </p:spPr>
        <p:txBody>
          <a:bodyPr/>
          <a:lstStyle/>
          <a:p>
            <a:r>
              <a:rPr lang="en-US" dirty="0">
                <a:ea typeface="Meiryo"/>
              </a:rPr>
              <a:t>Brute Force</a:t>
            </a:r>
          </a:p>
          <a:p>
            <a:r>
              <a:rPr lang="en-US" dirty="0">
                <a:ea typeface="Meiryo"/>
              </a:rPr>
              <a:t>Greedy Approximation</a:t>
            </a:r>
          </a:p>
          <a:p>
            <a:r>
              <a:rPr lang="en-US" dirty="0">
                <a:ea typeface="Meiryo"/>
              </a:rPr>
              <a:t>2-Approximation (matching)</a:t>
            </a:r>
          </a:p>
        </p:txBody>
      </p:sp>
      <p:pic>
        <p:nvPicPr>
          <p:cNvPr id="6" name="Picture 5" descr="Vertex Cover Problem (with C++ &amp; Python code)">
            <a:extLst>
              <a:ext uri="{FF2B5EF4-FFF2-40B4-BE49-F238E27FC236}">
                <a16:creationId xmlns:a16="http://schemas.microsoft.com/office/drawing/2014/main" id="{B424C45A-481B-76C9-A484-0DC6D6F8C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7" y="2088322"/>
            <a:ext cx="4909457" cy="306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Research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>
                <a:ea typeface="Meiryo"/>
              </a:rPr>
              <a:t>How do the algorithms compare in solution </a:t>
            </a:r>
            <a:r>
              <a:rPr lang="en-US" dirty="0">
                <a:ea typeface="Meiryo"/>
              </a:rPr>
              <a:t>quality and runtime?</a:t>
            </a:r>
          </a:p>
          <a:p>
            <a:pPr marL="342900" indent="-342900">
              <a:buAutoNum type="arabicPeriod"/>
            </a:pPr>
            <a:r>
              <a:rPr lang="en-US" dirty="0">
                <a:ea typeface="Meiryo"/>
              </a:rPr>
              <a:t>How does increasing graph size impact runtime for each algorithm?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Meiryo"/>
              </a:rPr>
              <a:t>Clear performance differences</a:t>
            </a:r>
          </a:p>
          <a:p>
            <a:r>
              <a:rPr lang="en-US" dirty="0">
                <a:ea typeface="Meiryo"/>
              </a:rPr>
              <a:t>Demonstrates optimization trade-offs</a:t>
            </a:r>
          </a:p>
          <a:p>
            <a:r>
              <a:rPr lang="en-US" dirty="0">
                <a:ea typeface="Meiryo"/>
              </a:rPr>
              <a:t>Fits course concepts</a:t>
            </a:r>
          </a:p>
        </p:txBody>
      </p:sp>
    </p:spTree>
    <p:extLst>
      <p:ext uri="{BB962C8B-B14F-4D97-AF65-F5344CB8AC3E}">
        <p14:creationId xmlns:p14="http://schemas.microsoft.com/office/powerpoint/2010/main" val="2225637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2769-08DE-E62F-163A-27A5442A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096" y="-647659"/>
            <a:ext cx="7042570" cy="1626225"/>
          </a:xfrm>
        </p:spPr>
        <p:txBody>
          <a:bodyPr/>
          <a:lstStyle/>
          <a:p>
            <a:r>
              <a:rPr lang="en-US" dirty="0"/>
              <a:t>Methods &amp;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3192-D337-8C2E-FAAC-9B46B5DFBD2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62326" y="1183405"/>
            <a:ext cx="7042335" cy="2648312"/>
          </a:xfrm>
        </p:spPr>
        <p:txBody>
          <a:bodyPr>
            <a:normAutofit lnSpcReduction="10000"/>
          </a:bodyPr>
          <a:lstStyle/>
          <a:p>
            <a:r>
              <a:rPr lang="en-US">
                <a:ea typeface="Meiryo"/>
              </a:rPr>
              <a:t>Implemented in C++</a:t>
            </a:r>
          </a:p>
          <a:p>
            <a:r>
              <a:rPr lang="en-US" dirty="0">
                <a:ea typeface="Meiryo"/>
              </a:rPr>
              <a:t>User input</a:t>
            </a:r>
          </a:p>
          <a:p>
            <a:pPr marL="285750" indent="-285750">
              <a:buFont typeface="Wingdings" panose="020B0503020204020204" pitchFamily="34" charset="0"/>
              <a:buChar char="§"/>
            </a:pPr>
            <a:r>
              <a:rPr lang="en-US">
                <a:ea typeface="Meiryo"/>
              </a:rPr>
              <a:t>Graph type: random, complete, cycle, path</a:t>
            </a:r>
          </a:p>
          <a:p>
            <a:pPr marL="285750" indent="-285750">
              <a:buFont typeface="Wingdings" panose="020B0503020204020204" pitchFamily="34" charset="0"/>
              <a:buChar char="§"/>
            </a:pPr>
            <a:r>
              <a:rPr lang="en-US" dirty="0">
                <a:ea typeface="Meiryo"/>
              </a:rPr>
              <a:t>Number of vertices</a:t>
            </a:r>
          </a:p>
          <a:p>
            <a:pPr marL="285750" indent="-285750">
              <a:buFont typeface="Wingdings" panose="020B0503020204020204" pitchFamily="34" charset="0"/>
              <a:buChar char="§"/>
            </a:pPr>
            <a:r>
              <a:rPr lang="en-US" dirty="0">
                <a:ea typeface="Meiryo"/>
              </a:rPr>
              <a:t>Edge probability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E1FFE1-7BC9-47CC-14B5-84E50D56A24E}"/>
              </a:ext>
            </a:extLst>
          </p:cNvPr>
          <p:cNvSpPr txBox="1">
            <a:spLocks/>
          </p:cNvSpPr>
          <p:nvPr/>
        </p:nvSpPr>
        <p:spPr>
          <a:xfrm>
            <a:off x="7779027" y="2773541"/>
            <a:ext cx="4109354" cy="3223406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None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  <a:buFont typeface="Corbel" panose="020B0503020204020204" pitchFamily="34" charset="0"/>
              <a:buChar char="–"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ea typeface="Meiryo"/>
              </a:rPr>
              <a:t>Outputs</a:t>
            </a:r>
            <a:endParaRPr lang="en-US"/>
          </a:p>
          <a:p>
            <a:pPr marL="285750" indent="-285750" algn="r">
              <a:buFont typeface="Wingdings" panose="020B0503020204020204" pitchFamily="34" charset="0"/>
              <a:buChar char="§"/>
            </a:pPr>
            <a:r>
              <a:rPr lang="en-US" dirty="0">
                <a:ea typeface="Meiryo"/>
              </a:rPr>
              <a:t>Vertex cover size</a:t>
            </a:r>
          </a:p>
          <a:p>
            <a:pPr marL="285750" indent="-285750" algn="r">
              <a:buFont typeface="Wingdings" panose="020B0503020204020204" pitchFamily="34" charset="0"/>
              <a:buChar char="§"/>
            </a:pPr>
            <a:r>
              <a:rPr lang="en-US" dirty="0">
                <a:ea typeface="Meiryo"/>
              </a:rPr>
              <a:t>Selected vertices</a:t>
            </a:r>
          </a:p>
          <a:p>
            <a:pPr marL="285750" indent="-285750" algn="r">
              <a:buFont typeface="Wingdings" panose="020B0503020204020204" pitchFamily="34" charset="0"/>
              <a:buChar char="§"/>
            </a:pPr>
            <a:r>
              <a:rPr lang="en-US">
                <a:ea typeface="Meiryo"/>
              </a:rPr>
              <a:t>Execution time (</a:t>
            </a:r>
            <a:r>
              <a:rPr lang="en-US" err="1">
                <a:ea typeface="Meiryo"/>
              </a:rPr>
              <a:t>ms</a:t>
            </a:r>
            <a:r>
              <a:rPr lang="en-US">
                <a:ea typeface="Meiryo"/>
              </a:rPr>
              <a:t>)</a:t>
            </a:r>
          </a:p>
          <a:p>
            <a:pPr marL="285750" indent="-285750" algn="r">
              <a:buFont typeface="Wingdings" panose="020B0503020204020204" pitchFamily="34" charset="0"/>
              <a:buChar char="§"/>
            </a:pPr>
            <a:r>
              <a:rPr lang="en-US" dirty="0">
                <a:ea typeface="Meiryo"/>
              </a:rPr>
              <a:t>Basic Operations</a:t>
            </a:r>
          </a:p>
          <a:p>
            <a:pPr marL="285750" indent="-285750" algn="r">
              <a:buFont typeface="Wingdings" panose="020B0503020204020204" pitchFamily="34" charset="0"/>
              <a:buChar char="§"/>
            </a:pPr>
            <a:r>
              <a:rPr lang="en-US" dirty="0">
                <a:ea typeface="Meiryo"/>
              </a:rPr>
              <a:t>Percent Optimal</a:t>
            </a:r>
          </a:p>
        </p:txBody>
      </p:sp>
      <p:pic>
        <p:nvPicPr>
          <p:cNvPr id="6" name="Picture 5" descr="Graph algorithms 101 - How to apply popular algorithms">
            <a:extLst>
              <a:ext uri="{FF2B5EF4-FFF2-40B4-BE49-F238E27FC236}">
                <a16:creationId xmlns:a16="http://schemas.microsoft.com/office/drawing/2014/main" id="{37C6F205-0C84-2462-11A7-52D1E7D0C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717430" y="2226592"/>
            <a:ext cx="4784783" cy="274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57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A29EE-B8E6-348D-0B9C-6CD41E0DF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486423-6A89-E068-6E23-DB13E1F0C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35" y="-477763"/>
            <a:ext cx="6623040" cy="1421898"/>
          </a:xfrm>
        </p:spPr>
        <p:txBody>
          <a:bodyPr>
            <a:normAutofit/>
          </a:bodyPr>
          <a:lstStyle/>
          <a:p>
            <a:r>
              <a:rPr lang="en-US" dirty="0">
                <a:ea typeface="Meiryo"/>
              </a:rPr>
              <a:t>Testing Setup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C3845B-0F55-B856-C52C-C00A9270E7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485" y="1523401"/>
            <a:ext cx="7602532" cy="4387524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Vertex counts tested: 5, 10, 15, 20, 25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System used: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 Intel i9-12900KF (3.20 GHz)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 32 GB DDR5 RAM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Notes: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Brute Force becomes extremely slow past ~25 vertices</a:t>
            </a:r>
          </a:p>
          <a:p>
            <a:r>
              <a:rPr lang="en-US" dirty="0">
                <a:ea typeface="+mn-lt"/>
                <a:cs typeface="+mn-lt"/>
              </a:rPr>
              <a:t>One test per algorithm for each vertex count</a:t>
            </a:r>
          </a:p>
          <a:p>
            <a:r>
              <a:rPr lang="en-US" dirty="0">
                <a:ea typeface="Meiryo"/>
              </a:rPr>
              <a:t>Only tested random graphs</a:t>
            </a:r>
          </a:p>
        </p:txBody>
      </p:sp>
    </p:spTree>
    <p:extLst>
      <p:ext uri="{BB962C8B-B14F-4D97-AF65-F5344CB8AC3E}">
        <p14:creationId xmlns:p14="http://schemas.microsoft.com/office/powerpoint/2010/main" val="1068637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Meiryo"/>
              </a:rPr>
              <a:t>Results Overview</a:t>
            </a:r>
            <a:endParaRPr lang="en-US" dirty="0">
              <a:ea typeface="Meiry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8256" y="1516706"/>
            <a:ext cx="3819652" cy="4160520"/>
          </a:xfrm>
        </p:spPr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Brute Force: Always optimal, extremely slow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Greedy: Good balance of speed + accuracy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2-Approximation: Fastest, least optimal</a:t>
            </a:r>
            <a:endParaRPr lang="en-US"/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78F1DC-7EF8-5514-E97B-D47663F284D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3322" y="4262782"/>
            <a:ext cx="5856988" cy="3096596"/>
          </a:xfrm>
        </p:spPr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Brute Force: 18.5 seconds, 100% optimal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Greedy: 0.037 ms, 93.8% optimal</a:t>
            </a:r>
          </a:p>
          <a:p>
            <a:r>
              <a:rPr lang="en-US">
                <a:ea typeface="+mn-lt"/>
                <a:cs typeface="+mn-lt"/>
              </a:rPr>
              <a:t>2-Approx: 0.009 ms, 62.5% optimal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FD57CA88-2EB2-72D3-AD92-5450A5F1A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719" y="1651059"/>
            <a:ext cx="4167996" cy="417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4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F703A-68C6-4038-1AD9-C2C480EC3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EA90-4AC7-B912-0FEC-011609F0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Meiryo"/>
              </a:rPr>
              <a:t>Runtime Comparison</a:t>
            </a:r>
            <a:endParaRPr lang="en-US" dirty="0">
              <a:ea typeface="Meiry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173C0-C91B-A75C-9E27-D091431EA5B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8256" y="1689644"/>
            <a:ext cx="4483680" cy="4345578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Brute Force grows exponentially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Greedy increases moderately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2-Approximation stays relativly consistent </a:t>
            </a:r>
          </a:p>
          <a:p>
            <a:endParaRPr lang="en-US" dirty="0">
              <a:ea typeface="Meiryo"/>
            </a:endParaRPr>
          </a:p>
          <a:p>
            <a:endParaRPr lang="en-US" dirty="0">
              <a:ea typeface="Meiryo"/>
            </a:endParaRPr>
          </a:p>
        </p:txBody>
      </p:sp>
      <p:pic>
        <p:nvPicPr>
          <p:cNvPr id="6" name="Content Placeholder 5" descr="A graph showing a number of vertices&#10;&#10;AI-generated content may be incorrect.">
            <a:extLst>
              <a:ext uri="{FF2B5EF4-FFF2-40B4-BE49-F238E27FC236}">
                <a16:creationId xmlns:a16="http://schemas.microsoft.com/office/drawing/2014/main" id="{9CBFA9C5-1C80-F6EB-23D8-02D1BF11154D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3"/>
          <a:stretch>
            <a:fillRect/>
          </a:stretch>
        </p:blipFill>
        <p:spPr>
          <a:xfrm>
            <a:off x="5303528" y="1712505"/>
            <a:ext cx="6366782" cy="4147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CBADF8-8457-158A-BD87-E6AADC9EC1D9}"/>
              </a:ext>
            </a:extLst>
          </p:cNvPr>
          <p:cNvSpPr txBox="1"/>
          <p:nvPr/>
        </p:nvSpPr>
        <p:spPr>
          <a:xfrm>
            <a:off x="4942115" y="6215743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(Brute Force excluded due to scale)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13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63635-86E8-3B53-05C2-C3CB42F4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8AC9-A37B-ECD3-8661-31BE77BF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Meiryo"/>
              </a:rPr>
              <a:t>Basic Operations</a:t>
            </a:r>
            <a:endParaRPr lang="en-US" dirty="0">
              <a:ea typeface="Meiryo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EDF5B8D-D4D2-11E2-E351-0839EAACB64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8192" y="1635215"/>
            <a:ext cx="4657851" cy="4683035"/>
          </a:xfrm>
        </p:spPr>
        <p:txBody>
          <a:bodyPr>
            <a:normAutofit/>
          </a:bodyPr>
          <a:lstStyle/>
          <a:p>
            <a:pPr marL="285750" indent="-285750">
              <a:buFont typeface="Arial" panose="020B0503020204020204" pitchFamily="34" charset="0"/>
              <a:buChar char="•"/>
            </a:pPr>
            <a:r>
              <a:rPr lang="en-US">
                <a:ea typeface="+mn-lt"/>
                <a:cs typeface="+mn-lt"/>
              </a:rPr>
              <a:t>Brute Force operations increase exponentially with graph size</a:t>
            </a:r>
            <a:endParaRPr lang="en-US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en-US">
                <a:ea typeface="+mn-lt"/>
                <a:cs typeface="+mn-lt"/>
              </a:rPr>
              <a:t>Greedy shows moderate growth as vertices increase</a:t>
            </a:r>
            <a:endParaRPr lang="en-US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en-US">
                <a:ea typeface="+mn-lt"/>
                <a:cs typeface="+mn-lt"/>
              </a:rPr>
              <a:t>2-Approximation consistently performs the fewest operations</a:t>
            </a:r>
            <a:endParaRPr lang="en-US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en-US">
                <a:ea typeface="+mn-lt"/>
                <a:cs typeface="+mn-lt"/>
              </a:rPr>
              <a:t>Clear trade-off between accuracy (Brute Force) and efficiency (2-Approx)</a:t>
            </a:r>
            <a:endParaRPr lang="en-US">
              <a:ea typeface="Meiryo"/>
            </a:endParaRPr>
          </a:p>
        </p:txBody>
      </p:sp>
      <p:pic>
        <p:nvPicPr>
          <p:cNvPr id="10" name="Picture 9" descr="A white rectangular grid with numbers and a black text&#10;&#10;AI-generated content may be incorrect.">
            <a:extLst>
              <a:ext uri="{FF2B5EF4-FFF2-40B4-BE49-F238E27FC236}">
                <a16:creationId xmlns:a16="http://schemas.microsoft.com/office/drawing/2014/main" id="{0F7B61CD-531E-3646-29F0-899D058D7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041" y="2331584"/>
            <a:ext cx="6864803" cy="283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97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80C15-276F-4825-5F06-860152CD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7CF31D-17C5-8BC4-E1D2-B2E543559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35" y="-477763"/>
            <a:ext cx="7820468" cy="1421898"/>
          </a:xfrm>
        </p:spPr>
        <p:txBody>
          <a:bodyPr>
            <a:normAutofit/>
          </a:bodyPr>
          <a:lstStyle/>
          <a:p>
            <a:r>
              <a:rPr lang="en-US" dirty="0">
                <a:ea typeface="Meiryo"/>
              </a:rPr>
              <a:t>Limitations and Future </a:t>
            </a:r>
            <a:r>
              <a:rPr lang="en-US">
                <a:ea typeface="Meiryo"/>
              </a:rPr>
              <a:t>Work</a:t>
            </a:r>
            <a:endParaRPr lang="en-US" dirty="0">
              <a:ea typeface="Meiryo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8260D0-A174-CC81-CF9F-C2EE68D7D1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1342" y="1556058"/>
            <a:ext cx="7123561" cy="4137153"/>
          </a:xfrm>
        </p:spPr>
        <p:txBody>
          <a:bodyPr>
            <a:normAutofit/>
          </a:bodyPr>
          <a:lstStyle/>
          <a:p>
            <a:r>
              <a:rPr lang="en-US" b="1">
                <a:ea typeface="+mn-lt"/>
                <a:cs typeface="+mn-lt"/>
              </a:rPr>
              <a:t>Limitations: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Could not test higher vertex counts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Limited time and computing resources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Future Work: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Test more vertex cover algorithms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Explore additional graph types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Compare random vs. real-world graph data</a:t>
            </a:r>
            <a:endParaRPr lang="en-US"/>
          </a:p>
          <a:p>
            <a:endParaRPr lang="en-US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106520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FEA1E-6411-8870-F876-2FDE5D8E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Erdos Renyi — NetworkX 2.1 documentation">
            <a:extLst>
              <a:ext uri="{FF2B5EF4-FFF2-40B4-BE49-F238E27FC236}">
                <a16:creationId xmlns:a16="http://schemas.microsoft.com/office/drawing/2014/main" id="{9081169E-88D0-D18D-7896-1083DF954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46" y="2166290"/>
            <a:ext cx="3328786" cy="249658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D03B0D5-EF57-7EC3-175A-BB3E9FCE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1056362"/>
            <a:ext cx="6627226" cy="1154102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Tools Used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F313971B-0A57-C5DD-9672-8DF65BD2B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1857" y="2268656"/>
            <a:ext cx="6627226" cy="3505938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 indent="-228600">
              <a:lnSpc>
                <a:spcPct val="140000"/>
              </a:lnSpc>
              <a:buFont typeface="Corbel" panose="020B0503020204020204" pitchFamily="34" charset="0"/>
              <a:buChar char="•"/>
            </a:pPr>
            <a:r>
              <a:rPr lang="en-US"/>
              <a:t>Zybooks</a:t>
            </a:r>
          </a:p>
          <a:p>
            <a:pPr indent="-228600">
              <a:lnSpc>
                <a:spcPct val="140000"/>
              </a:lnSpc>
              <a:buFont typeface="Corbel" panose="020B0503020204020204" pitchFamily="34" charset="0"/>
              <a:buChar char="•"/>
            </a:pPr>
            <a:r>
              <a:rPr lang="en-US"/>
              <a:t>In-class PowerPoints</a:t>
            </a:r>
          </a:p>
          <a:p>
            <a:pPr indent="-228600">
              <a:lnSpc>
                <a:spcPct val="140000"/>
              </a:lnSpc>
              <a:buFont typeface="Corbel" panose="020B0503020204020204" pitchFamily="34" charset="0"/>
              <a:buChar char="•"/>
            </a:pPr>
            <a:r>
              <a:rPr lang="en-US"/>
              <a:t>Stack Overflow</a:t>
            </a:r>
          </a:p>
          <a:p>
            <a:pPr indent="-228600">
              <a:lnSpc>
                <a:spcPct val="140000"/>
              </a:lnSpc>
              <a:buFont typeface="Corbel" panose="020B0503020204020204" pitchFamily="34" charset="0"/>
              <a:buChar char="•"/>
            </a:pPr>
            <a:r>
              <a:rPr lang="en-US"/>
              <a:t>Claude (brainstorming &amp; debugging)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54028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ShojiVTI</Template>
  <TotalTime>0</TotalTime>
  <Words>417</Words>
  <Application>Microsoft Office PowerPoint</Application>
  <PresentationFormat>Widescreen</PresentationFormat>
  <Paragraphs>120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ShojiVTI</vt:lpstr>
      <vt:lpstr>PowerPoint Presentation</vt:lpstr>
      <vt:lpstr>What is Vertex Cover?</vt:lpstr>
      <vt:lpstr>Algorithms Analyzed</vt:lpstr>
      <vt:lpstr>Research Questions</vt:lpstr>
      <vt:lpstr>Methods &amp; Implementation</vt:lpstr>
      <vt:lpstr>Testing Setup</vt:lpstr>
      <vt:lpstr>Results Overview</vt:lpstr>
      <vt:lpstr>Runtime Comparison</vt:lpstr>
      <vt:lpstr>Basic Operations</vt:lpstr>
      <vt:lpstr>Limitations and Future Work</vt:lpstr>
      <vt:lpstr>Tools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283</cp:revision>
  <dcterms:created xsi:type="dcterms:W3CDTF">2025-11-24T15:23:25Z</dcterms:created>
  <dcterms:modified xsi:type="dcterms:W3CDTF">2025-12-01T01:24:46Z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